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00F0C8-8BB5-4B75-B910-B254A85432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96B895-F4B3-43A2-A6BB-88C05B8CD6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EE41224-DC18-4CB3-AB79-792D8F5FF6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4B0EBB4-CE3C-4534-984E-6BCFF12A20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E4827E1-1097-4214-80C1-D74DE10448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A27F276-7C7C-43A3-B7B6-E418377FC3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BF20912-4A49-48F2-9E75-357AE5776D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BF675DC-742E-43C9-B6FC-D0F4BFCCC8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17C2314-4D53-4667-8F17-57EEEC5EA4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D77BF56-6519-42C0-8018-617B7C6478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3822CAA-2FC3-4BC8-820E-A21EA6388B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07808D-7CD1-4E8F-8933-242695A8744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20753D-3D35-483D-ACEF-EE506CBA98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A0F127-4AF9-4439-8376-95D38268720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9C87D3-1E8F-455C-9F65-1F688BAA23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0AEFB5-C87F-4AD4-933A-538B8648448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983746-4065-4DCC-BE76-0555FC4909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8697FB-4127-4593-8F74-B3E5F865E2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776139-EAB7-4E6F-A23B-E50C18EADFC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8A9F1A-A477-45D0-A7F7-65A6DC74BC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AC1E39-919D-4086-9A9D-DD6B69E6ED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FA2D70-3F7D-432A-9A64-715013999E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31520" y="1645920"/>
            <a:ext cx="10728360" cy="16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4000" spc="-1" strike="noStrike">
                <a:solidFill>
                  <a:srgbClr val="38bdf8"/>
                </a:solidFill>
                <a:latin typeface="Trebuchet MS"/>
              </a:rPr>
              <a:t>AI-Powered Intelligent Document Search &amp; RAG Assistant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94a3b8"/>
                </a:solidFill>
                <a:latin typeface="Calibri"/>
              </a:rPr>
              <a:t>Intelligent Retrieval, Structured Summarization, and Speech-to-Text Chat Assistant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731520" y="3931920"/>
            <a:ext cx="10728360" cy="3636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731520" y="4297680"/>
            <a:ext cx="512028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60120" y="4526280"/>
            <a:ext cx="4663080" cy="9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38bdf8"/>
                </a:solidFill>
                <a:latin typeface="Trebuchet MS"/>
              </a:rPr>
              <a:t>PRESENTER DETAILS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Presenter: [Insert Team Name / Members]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Track: GenAI &amp; Automation Hackathon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ounded Rectangle 6"/>
          <p:cNvSpPr/>
          <p:nvPr/>
        </p:nvSpPr>
        <p:spPr>
          <a:xfrm>
            <a:off x="6339600" y="4297680"/>
            <a:ext cx="512028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568200" y="4526280"/>
            <a:ext cx="4663080" cy="12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34d399"/>
                </a:solidFill>
                <a:latin typeface="Trebuchet MS"/>
              </a:rPr>
              <a:t>CORE TECH STACK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Frontend: Angular 17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Backend: Flask (Python) &amp; FAISS Local Vector Store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Models: GPT-4o &amp; DeepSeek-V3 (TCS GenAI Lab API)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Picture 42" descr=""/>
          <p:cNvPicPr/>
          <p:nvPr/>
        </p:nvPicPr>
        <p:blipFill>
          <a:blip r:embed="rId1"/>
          <a:srcRect l="133" t="0" r="133" b="0"/>
          <a:stretch/>
        </p:blipFill>
        <p:spPr>
          <a:xfrm>
            <a:off x="11097000" y="160560"/>
            <a:ext cx="724320" cy="644400"/>
          </a:xfrm>
          <a:prstGeom prst="rect">
            <a:avLst/>
          </a:prstGeom>
          <a:ln w="0">
            <a:noFill/>
          </a:ln>
        </p:spPr>
      </p:pic>
      <p:pic>
        <p:nvPicPr>
          <p:cNvPr id="75" name="Graphic 40" descr=""/>
          <p:cNvPicPr/>
          <p:nvPr/>
        </p:nvPicPr>
        <p:blipFill>
          <a:blip r:embed="rId2">
            <a:lum bright="100000"/>
          </a:blip>
          <a:srcRect l="0" t="36534" r="0" b="36534"/>
          <a:stretch/>
        </p:blipFill>
        <p:spPr>
          <a:xfrm>
            <a:off x="291960" y="253080"/>
            <a:ext cx="2154240" cy="57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731520" y="457200"/>
            <a:ext cx="1072836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200" spc="-1" strike="noStrike">
                <a:solidFill>
                  <a:srgbClr val="38bdf8"/>
                </a:solidFill>
                <a:latin typeface="Trebuchet MS"/>
              </a:rPr>
              <a:t>Problem Context &amp; Impact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Calibri"/>
              </a:rPr>
              <a:t>The Cost of Manual Search &amp; Unstructured Information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3"/>
          <p:cNvSpPr/>
          <p:nvPr/>
        </p:nvSpPr>
        <p:spPr>
          <a:xfrm>
            <a:off x="731520" y="1828800"/>
            <a:ext cx="5120280" cy="4297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960120" y="2057400"/>
            <a:ext cx="4663080" cy="24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fb7185"/>
                </a:solidFill>
                <a:latin typeface="Trebuchet MS"/>
              </a:rPr>
              <a:t>The Challenge &amp; Risks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Business &amp; technical teams lose thousands of hours manually searching through scattered requirements, specifications, and layout diagrams.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Traditional keyword search misses critical semantic context, ignoring key synonyms and intent.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Visual assets (flowcharts, design mockups, scanned specs) remain unsearchable and isolated.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Leads to undetected document contradictions, missed requirements, and high dependency lags.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5"/>
          <p:cNvSpPr/>
          <p:nvPr/>
        </p:nvSpPr>
        <p:spPr>
          <a:xfrm>
            <a:off x="6339600" y="1828800"/>
            <a:ext cx="5120280" cy="4297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6568200" y="2057400"/>
            <a:ext cx="4663080" cy="24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34d399"/>
                </a:solidFill>
                <a:latin typeface="Trebuchet MS"/>
              </a:rPr>
              <a:t>The GenAI RAG Solution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Automated Ingestion: Converts PDFs, text documents, and diagrams into searchable vector indices.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Contextual Extraction: Utilizes semantic similarity matching rather than simple keyword tags.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Visual OCR parser: Seamlessly translates visual mockups and flows using GPT-4o Vision API.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Structured Outputs: Delivers instant summaries of proposed changes, system impacts, and risk matrices.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Graphic 1" descr=""/>
          <p:cNvPicPr/>
          <p:nvPr/>
        </p:nvPicPr>
        <p:blipFill>
          <a:blip r:embed="rId1">
            <a:lum bright="100000"/>
          </a:blip>
          <a:srcRect l="0" t="36534" r="0" b="36534"/>
          <a:stretch/>
        </p:blipFill>
        <p:spPr>
          <a:xfrm>
            <a:off x="185760" y="6319800"/>
            <a:ext cx="1434240" cy="386280"/>
          </a:xfrm>
          <a:prstGeom prst="rect">
            <a:avLst/>
          </a:prstGeom>
          <a:ln w="0">
            <a:noFill/>
          </a:ln>
        </p:spPr>
      </p:pic>
      <p:pic>
        <p:nvPicPr>
          <p:cNvPr id="83" name="Picture 1" descr=""/>
          <p:cNvPicPr/>
          <p:nvPr/>
        </p:nvPicPr>
        <p:blipFill>
          <a:blip r:embed="rId2"/>
          <a:srcRect l="133" t="0" r="133" b="0"/>
          <a:stretch/>
        </p:blipFill>
        <p:spPr>
          <a:xfrm>
            <a:off x="11335680" y="6336000"/>
            <a:ext cx="364320" cy="32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1"/>
          <p:cNvSpPr/>
          <p:nvPr/>
        </p:nvSpPr>
        <p:spPr>
          <a:xfrm>
            <a:off x="360000" y="2476080"/>
            <a:ext cx="2508480" cy="14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200" spc="-1" strike="noStrike">
                <a:solidFill>
                  <a:srgbClr val="38bdf8"/>
                </a:solidFill>
                <a:latin typeface="Trebuchet MS"/>
              </a:rPr>
              <a:t>Architectural</a:t>
            </a:r>
            <a:br>
              <a:rPr sz="3200"/>
            </a:br>
            <a:r>
              <a:rPr b="1" lang="en-US" sz="3200" spc="-1" strike="noStrike">
                <a:solidFill>
                  <a:srgbClr val="38bdf8"/>
                </a:solidFill>
                <a:latin typeface="Trebuchet MS"/>
              </a:rPr>
              <a:t>Diagram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Calibri"/>
              </a:rPr>
              <a:t>The Cost of Manual Search &amp; Unstructured Information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2"/>
          <p:cNvSpPr/>
          <p:nvPr/>
        </p:nvSpPr>
        <p:spPr>
          <a:xfrm>
            <a:off x="3240000" y="360000"/>
            <a:ext cx="7740000" cy="6120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7" name="Graphic 5" descr=""/>
          <p:cNvPicPr/>
          <p:nvPr/>
        </p:nvPicPr>
        <p:blipFill>
          <a:blip r:embed="rId1">
            <a:lum bright="100000"/>
          </a:blip>
          <a:srcRect l="0" t="36534" r="0" b="36534"/>
          <a:stretch/>
        </p:blipFill>
        <p:spPr>
          <a:xfrm>
            <a:off x="185760" y="6319800"/>
            <a:ext cx="1434240" cy="386280"/>
          </a:xfrm>
          <a:prstGeom prst="rect">
            <a:avLst/>
          </a:prstGeom>
          <a:ln w="0">
            <a:noFill/>
          </a:ln>
        </p:spPr>
      </p:pic>
      <p:pic>
        <p:nvPicPr>
          <p:cNvPr id="88" name="Picture 5" descr=""/>
          <p:cNvPicPr/>
          <p:nvPr/>
        </p:nvPicPr>
        <p:blipFill>
          <a:blip r:embed="rId2"/>
          <a:srcRect l="133" t="0" r="133" b="0"/>
          <a:stretch/>
        </p:blipFill>
        <p:spPr>
          <a:xfrm>
            <a:off x="11335680" y="6336000"/>
            <a:ext cx="364320" cy="324000"/>
          </a:xfrm>
          <a:prstGeom prst="rect">
            <a:avLst/>
          </a:prstGeom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3"/>
          <a:stretch/>
        </p:blipFill>
        <p:spPr>
          <a:xfrm>
            <a:off x="3960000" y="971280"/>
            <a:ext cx="6300000" cy="496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731520" y="457200"/>
            <a:ext cx="1072836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200" spc="-1" strike="noStrike">
                <a:solidFill>
                  <a:srgbClr val="38bdf8"/>
                </a:solidFill>
                <a:latin typeface="Trebuchet MS"/>
              </a:rPr>
              <a:t>Technical Implementation &amp; AI Stack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Calibri"/>
              </a:rPr>
              <a:t>High-Performance Architecture (Local FAISS + TCS GenAI)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3"/>
          <p:cNvSpPr/>
          <p:nvPr/>
        </p:nvSpPr>
        <p:spPr>
          <a:xfrm>
            <a:off x="731520" y="1828800"/>
            <a:ext cx="3328200" cy="4297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960120" y="2057400"/>
            <a:ext cx="2871000" cy="22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38bdf8"/>
                </a:solidFill>
                <a:latin typeface="Trebuchet MS"/>
              </a:rPr>
              <a:t>Angular 17 Client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Modern Client running on Port 4202.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Glassmorphic design built with Vanilla CSS for visual excellence.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Integrated Web Speech SDK for hands-free analyst query input.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Custom PDF/TXT uploader and formatted TXT/JSON exports.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5"/>
          <p:cNvSpPr/>
          <p:nvPr/>
        </p:nvSpPr>
        <p:spPr>
          <a:xfrm>
            <a:off x="4425840" y="1828800"/>
            <a:ext cx="3328200" cy="4297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4654440" y="2057400"/>
            <a:ext cx="2871000" cy="22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34d399"/>
                </a:solidFill>
                <a:latin typeface="Trebuchet MS"/>
              </a:rPr>
              <a:t>Flask Python Server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Microservice running on Port 5002.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RAG pipeline using pdfminer to extract text without local C++ binary dependencies.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Base64 image converter feeds diagrams directly to Vision OCR.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Local FAISS CPU database for fast, local vector index retrieval.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7"/>
          <p:cNvSpPr/>
          <p:nvPr/>
        </p:nvSpPr>
        <p:spPr>
          <a:xfrm>
            <a:off x="8119800" y="1828800"/>
            <a:ext cx="3328200" cy="4297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8"/>
          <p:cNvSpPr/>
          <p:nvPr/>
        </p:nvSpPr>
        <p:spPr>
          <a:xfrm>
            <a:off x="8348400" y="2057400"/>
            <a:ext cx="2871000" cy="24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38bdf8"/>
                </a:solidFill>
                <a:latin typeface="Trebuchet MS"/>
              </a:rPr>
              <a:t>TCS GenAI Lab Gateway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Secure API boundary for embedding and reasoning models.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Embeddings: Uses text-embedding-3-large for high-fidelity vectors.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LLM Core: GPT-4o and DeepSeek-V3 are integrated dynamically.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Enables advanced impact analysis and contextual chat replies.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Graphic 2" descr=""/>
          <p:cNvPicPr/>
          <p:nvPr/>
        </p:nvPicPr>
        <p:blipFill>
          <a:blip r:embed="rId1">
            <a:lum bright="100000"/>
          </a:blip>
          <a:srcRect l="0" t="36534" r="0" b="36534"/>
          <a:stretch/>
        </p:blipFill>
        <p:spPr>
          <a:xfrm>
            <a:off x="185760" y="6320160"/>
            <a:ext cx="1434240" cy="38628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2" descr=""/>
          <p:cNvPicPr/>
          <p:nvPr/>
        </p:nvPicPr>
        <p:blipFill>
          <a:blip r:embed="rId2"/>
          <a:srcRect l="133" t="0" r="133" b="0"/>
          <a:stretch/>
        </p:blipFill>
        <p:spPr>
          <a:xfrm>
            <a:off x="11335680" y="6336360"/>
            <a:ext cx="364320" cy="32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731520" y="457200"/>
            <a:ext cx="1072836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200" spc="-1" strike="noStrike">
                <a:solidFill>
                  <a:srgbClr val="38bdf8"/>
                </a:solidFill>
                <a:latin typeface="Trebuchet MS"/>
              </a:rPr>
              <a:t>Prototype Highlights &amp; Live Walkthrough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Calibri"/>
              </a:rPr>
              <a:t>Demonstrating Features That Accelerate Analysis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3"/>
          <p:cNvSpPr/>
          <p:nvPr/>
        </p:nvSpPr>
        <p:spPr>
          <a:xfrm>
            <a:off x="731520" y="1828800"/>
            <a:ext cx="5120280" cy="1965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960120" y="2057400"/>
            <a:ext cx="4663080" cy="9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38bdf8"/>
                </a:solidFill>
                <a:latin typeface="Trebuchet MS"/>
              </a:rPr>
              <a:t>Interactive File Uploader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Drag-and-drop file interface for quick indexing.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Dynamic tag reference generation as files are parsed.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ounded Rectangle 5"/>
          <p:cNvSpPr/>
          <p:nvPr/>
        </p:nvSpPr>
        <p:spPr>
          <a:xfrm>
            <a:off x="6339600" y="1828800"/>
            <a:ext cx="5120280" cy="1965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6"/>
          <p:cNvSpPr/>
          <p:nvPr/>
        </p:nvSpPr>
        <p:spPr>
          <a:xfrm>
            <a:off x="6568200" y="2057400"/>
            <a:ext cx="4663080" cy="84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34d399"/>
                </a:solidFill>
                <a:latin typeface="Trebuchet MS"/>
              </a:rPr>
              <a:t>Structured Impact Summarizer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Outputs four core pillars: Executive Summary, Proposed Changes, System Impact, and Stakeholder Risk/Mitigation Matrix.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7"/>
          <p:cNvSpPr/>
          <p:nvPr/>
        </p:nvSpPr>
        <p:spPr>
          <a:xfrm>
            <a:off x="731520" y="4160520"/>
            <a:ext cx="5120280" cy="1965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960120" y="4389120"/>
            <a:ext cx="4663080" cy="11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34d399"/>
                </a:solidFill>
                <a:latin typeface="Trebuchet MS"/>
              </a:rPr>
              <a:t>Voice &amp; Vision Chat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Hands-free voice query parsing (Web Speech API).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Vision attachments allow direct reasoning on flowchart images using GPT-4o Vision.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ounded Rectangle 9"/>
          <p:cNvSpPr/>
          <p:nvPr/>
        </p:nvSpPr>
        <p:spPr>
          <a:xfrm>
            <a:off x="6339600" y="4160520"/>
            <a:ext cx="5120280" cy="1965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10"/>
          <p:cNvSpPr/>
          <p:nvPr/>
        </p:nvSpPr>
        <p:spPr>
          <a:xfrm>
            <a:off x="6568200" y="4389120"/>
            <a:ext cx="4663080" cy="9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38bdf8"/>
                </a:solidFill>
                <a:latin typeface="Trebuchet MS"/>
              </a:rPr>
              <a:t>Export Capabilities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Download structured results as standard TXT files.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Export data to JSON formatting for external integration.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Graphic 3" descr=""/>
          <p:cNvPicPr/>
          <p:nvPr/>
        </p:nvPicPr>
        <p:blipFill>
          <a:blip r:embed="rId1">
            <a:lum bright="100000"/>
          </a:blip>
          <a:srcRect l="0" t="36534" r="0" b="36534"/>
          <a:stretch/>
        </p:blipFill>
        <p:spPr>
          <a:xfrm>
            <a:off x="185760" y="6320160"/>
            <a:ext cx="1434240" cy="386280"/>
          </a:xfrm>
          <a:prstGeom prst="rect">
            <a:avLst/>
          </a:prstGeom>
          <a:ln w="0">
            <a:noFill/>
          </a:ln>
        </p:spPr>
      </p:pic>
      <p:pic>
        <p:nvPicPr>
          <p:cNvPr id="111" name="Picture 3" descr=""/>
          <p:cNvPicPr/>
          <p:nvPr/>
        </p:nvPicPr>
        <p:blipFill>
          <a:blip r:embed="rId2"/>
          <a:srcRect l="133" t="0" r="133" b="0"/>
          <a:stretch/>
        </p:blipFill>
        <p:spPr>
          <a:xfrm>
            <a:off x="11335680" y="6336360"/>
            <a:ext cx="364320" cy="32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731520" y="457200"/>
            <a:ext cx="1072836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200" spc="-1" strike="noStrike">
                <a:solidFill>
                  <a:srgbClr val="38bdf8"/>
                </a:solidFill>
                <a:latin typeface="Trebuchet MS"/>
              </a:rPr>
              <a:t>Future Vision &amp; Scalability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Calibri"/>
              </a:rPr>
              <a:t>Transitioning From Demo to Production Platform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3"/>
          <p:cNvSpPr/>
          <p:nvPr/>
        </p:nvSpPr>
        <p:spPr>
          <a:xfrm>
            <a:off x="731520" y="1828800"/>
            <a:ext cx="5120280" cy="4297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960120" y="2057400"/>
            <a:ext cx="4663080" cy="18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38bdf8"/>
                </a:solidFill>
                <a:latin typeface="Trebuchet MS"/>
              </a:rPr>
              <a:t>Enterprise Security &amp; Connectivity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Role-Based Access Control (RBAC): Enforce document-level access permissions dynamically within vector databases.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Enterprise API Connectors: Automate real-time ingestion pipelines with live repositories like Microsoft SharePoint, JIRA, and Confluence.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Active Directory Integration: Single Sign-On (SSO) and group-based document access restrictions.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5"/>
          <p:cNvSpPr/>
          <p:nvPr/>
        </p:nvSpPr>
        <p:spPr>
          <a:xfrm>
            <a:off x="6339600" y="1828800"/>
            <a:ext cx="5120280" cy="4297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6568200" y="2057400"/>
            <a:ext cx="46630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34d399"/>
                </a:solidFill>
                <a:latin typeface="Trebuchet MS"/>
              </a:rPr>
              <a:t>Advanced Processing &amp; Offline Deployment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Metadata Filtering: Enhance semantic similarity search with temporal filters, category rules, and author tags.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Hybrid Indexing: Combine semantic FAISS vector search with BM25 keyword matching for optimal recall.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•  </a:t>
            </a:r>
            <a:r>
              <a:rPr b="0" lang="en-US" sz="1200" spc="-1" strike="noStrike">
                <a:solidFill>
                  <a:srgbClr val="f8fafc"/>
                </a:solidFill>
                <a:latin typeface="Calibri"/>
              </a:rPr>
              <a:t>Local Offline Deployment: Transition embedding and reasoning execution to secure offline LLMs (Llama-3, Phi-3) using local Ollama endpoints for 100% data leakage protection.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Graphic 4" descr=""/>
          <p:cNvPicPr/>
          <p:nvPr/>
        </p:nvPicPr>
        <p:blipFill>
          <a:blip r:embed="rId1">
            <a:lum bright="100000"/>
          </a:blip>
          <a:srcRect l="0" t="36534" r="0" b="36534"/>
          <a:stretch/>
        </p:blipFill>
        <p:spPr>
          <a:xfrm>
            <a:off x="185760" y="6320160"/>
            <a:ext cx="1434240" cy="38628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4" descr=""/>
          <p:cNvPicPr/>
          <p:nvPr/>
        </p:nvPicPr>
        <p:blipFill>
          <a:blip r:embed="rId2"/>
          <a:srcRect l="133" t="0" r="133" b="0"/>
          <a:stretch/>
        </p:blipFill>
        <p:spPr>
          <a:xfrm>
            <a:off x="11335680" y="6336360"/>
            <a:ext cx="364320" cy="32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2026-06-18T19:28:06Z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